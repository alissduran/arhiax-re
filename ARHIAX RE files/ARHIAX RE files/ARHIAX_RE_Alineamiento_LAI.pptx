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82880"/>
            <a:ext cx="3291840" cy="329184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E0A45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182880"/>
            <a:ext cx="2560320" cy="2560320"/>
          </a:xfrm>
          <a:prstGeom prst="ellipse">
            <a:avLst/>
          </a:prstGeom>
          <a:solidFill>
            <a:srgbClr val="08323D"/>
          </a:solidFill>
          <a:ln w="9525">
            <a:solidFill>
              <a:srgbClr val="E0A45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4255" y="548640"/>
            <a:ext cx="1828800" cy="1828800"/>
          </a:xfrm>
          <a:prstGeom prst="ellipse">
            <a:avLst/>
          </a:prstGeom>
          <a:solidFill>
            <a:srgbClr val="08323D"/>
          </a:solidFill>
          <a:ln w="9525">
            <a:solidFill>
              <a:srgbClr val="E0A45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914400"/>
            <a:ext cx="1097280" cy="1097280"/>
          </a:xfrm>
          <a:prstGeom prst="ellipse">
            <a:avLst/>
          </a:prstGeom>
          <a:solidFill>
            <a:srgbClr val="08323D"/>
          </a:solidFill>
          <a:ln w="9525">
            <a:solidFill>
              <a:srgbClr val="E0A45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4647" y="1399032"/>
            <a:ext cx="128016" cy="128016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CONSULTING GROUP  ·  BARRANQUILLA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ARHIAX RE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verdad estática al activo vivo.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alineamiento estratégico — equipo Sinergia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 abril de 2026  ·  Confidencial — uso interno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295" y="63550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  · 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inmueble se documenta una vez. Luego envejece.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583680" cy="13258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73152" cy="13258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0848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Aseguradoras suscriben sobre prehistoria.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25237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emitidas con certificados de tradición de 4–5 años. Lo que pasó después no entra al pricing.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6583680" cy="13258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383280"/>
            <a:ext cx="73152" cy="13258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7588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5478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Bancos otorgan crédito sobre fotografías.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398678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LTV se calcula con avalúos congelados. La cartera envejece sin que nadie lo registre.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846320"/>
            <a:ext cx="6583680" cy="13258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846320"/>
            <a:ext cx="73152" cy="13258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50109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FICs reportan NAV sobre supuestos.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544982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del fondo se construye sobre una verdad documental que dejó de ser verdad hace meses.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589520" y="1920240"/>
            <a:ext cx="4114800" cy="41148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ANCLA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77240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años, 9 meses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7772400" y="36118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antigüedad del certificado de tradición y libertad del Folio 040-592598 que la industria sigue tratando como verdad.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772400" y="5212080"/>
            <a:ext cx="274320" cy="3657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772400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 1001 · Conjunto Guacamaya · Barranquilla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  · 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nadie lo ha resuelto.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1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24028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fuentes sin interoperabilidad real.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971800"/>
            <a:ext cx="467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SNR, IGAC, POT y curadurías hablan idiomas distintos, en sistemas distintos, con custodios distintos. Nadie los reconcilia.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3008" y="1920240"/>
            <a:ext cx="541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8768" y="2286000"/>
            <a:ext cx="640080" cy="64008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21728" y="224028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Curadurías como cuello de botella institucional.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98768" y="2971800"/>
            <a:ext cx="467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protegida por régimen de responsabilidad personal. El curador no expone lo que firma sin garantías.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41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006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61772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Verisk / CoreLogic a 24–36 meses de LATAM.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5349240"/>
            <a:ext cx="467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operadores internacionales todavía no entran. La ventana es ahora — y es estrecha.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33008" y="4297680"/>
            <a:ext cx="541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98768" y="4663440"/>
            <a:ext cx="640080" cy="64008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28" y="48006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1728" y="461772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Ningún actor tiene incentivo para integrar.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598768" y="5349240"/>
            <a:ext cx="467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optimiza su propio mandato. La integración solo emerge si alguien externo la hace y la firma.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II  ·  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LAI — Living Asset Intelligence.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217920" cy="402336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40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EN UNA FRASE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inmueble pasa de ser objeto documental a ser objeto computable.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68680" y="5029200"/>
            <a:ext cx="274320" cy="3657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663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inmueble se vuelve un activo direccionable, firmado, con stream vivo de eventos materiales.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461772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304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44144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2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Direccionable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92440" y="2651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criptográfica única por folio.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429000"/>
            <a:ext cx="461772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69480" y="37216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85876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924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Firmado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09244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hecho lleva firma Ed25519 + sello de tiempo RFC 3161.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040880" y="4846320"/>
            <a:ext cx="461772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69480" y="513892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27608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9244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092440" y="5486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continuo de eventos materiales — no fotografía.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 ·  LA SOLUCIÓN POR CAPAS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criptográfica del activo.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2194560"/>
            <a:ext cx="2743200" cy="2743200"/>
          </a:xfrm>
          <a:prstGeom prst="ellipse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88036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074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identidad única, no hay nada que firmar.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920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elementos. Uno solo no basta.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688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2423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+ matrícula como identificador raíz.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0358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29900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sobre el contenido del dictamen.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0273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4920" y="355701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Ed25519 del operador.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6966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4920" y="412394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de tiempo RFC 3161 (TSA externa).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736592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74920" y="46908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.well-known público para verificación.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663440" y="5486400"/>
            <a:ext cx="7040880" cy="777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846320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va primero: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846320" y="5852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capa posterior depende de un identificador único, verificable y no falsificable.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 ·  LA SOLUCIÓN POR CAPAS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Reconciliación multi-fuente sobre EPSG:9377.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3969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 y libertad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05409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IGAC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508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y geometría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7490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6849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087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urbanístico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773168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8289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Curadurías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5087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y planos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74720"/>
            <a:ext cx="640080" cy="6400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440680" y="2697480"/>
            <a:ext cx="2286000" cy="228600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544068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LAI</a:t>
            </a:r>
            <a:endParaRPr lang="en-US" sz="3000" dirty="0"/>
          </a:p>
        </p:txBody>
      </p:sp>
      <p:sp>
        <p:nvSpPr>
          <p:cNvPr id="30" name="Text 23"/>
          <p:cNvSpPr/>
          <p:nvPr/>
        </p:nvSpPr>
        <p:spPr>
          <a:xfrm>
            <a:off x="54406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reconciliador</a:t>
            </a:r>
            <a:endParaRPr lang="en-US" sz="1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474720"/>
            <a:ext cx="640080" cy="6400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732520" y="2697480"/>
            <a:ext cx="2971800" cy="228600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869680" y="28803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UNIFICADO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869680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8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geometría, un solo régimen, un solo histórico verificable.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esta capa: la verdad no está perdida — está fragmentada. LAI la integra.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 ·  LA SOLUCIÓN POR CAPAS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Dictamen Tier-1: hallazgos y recomendaciones.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393192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ACTUARIAL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12  con penalización por antigüedad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526280"/>
            <a:ext cx="274320" cy="3657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091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hallazgos clasificados por severidad. Recomendaciones por tipo de cliente.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33755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20240"/>
            <a:ext cx="337550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9456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32120" y="2194560"/>
            <a:ext cx="2369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Aseguradora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7760" y="2788920"/>
            <a:ext cx="28268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prima por hallazgos no detectados en suscripción tradicional.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67548" y="1920240"/>
            <a:ext cx="33755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67548" y="1920240"/>
            <a:ext cx="337550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868" y="219456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136228" y="2194560"/>
            <a:ext cx="2369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541868" y="2788920"/>
            <a:ext cx="28268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reescrito sobre verdad reciente; cobertura ampliada en cartera vigente.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663440" y="4069080"/>
            <a:ext cx="33755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4069080"/>
            <a:ext cx="337550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3434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32120" y="4343400"/>
            <a:ext cx="2369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4937760" y="4937760"/>
            <a:ext cx="28268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con respaldo verificable; reporte regulatorio reforzado.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267548" y="4069080"/>
            <a:ext cx="33755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267548" y="4069080"/>
            <a:ext cx="337550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68" y="434340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36228" y="4343400"/>
            <a:ext cx="2369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Titular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8541868" y="4937760"/>
            <a:ext cx="28268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documental frente a impugnaciones y disputas registrales.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864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esta capa: sin output legible para el comprador, la infraestructura no se vende.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4 — 7  ·  LA SOLUCIÓN POR CAPAS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en Etapas 2, 3 y 4.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36444" cy="41148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2270684" y="21945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844" y="23317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33756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firmado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4206240"/>
            <a:ext cx="21792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materiales verificables. El activo deja de ser foto y se vuelve serie temporal.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5532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67964" y="1920240"/>
            <a:ext cx="2636444" cy="41148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50844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400" dirty="0"/>
          </a:p>
        </p:txBody>
      </p:sp>
      <p:sp>
        <p:nvSpPr>
          <p:cNvPr id="17" name="Shape 14"/>
          <p:cNvSpPr/>
          <p:nvPr/>
        </p:nvSpPr>
        <p:spPr>
          <a:xfrm>
            <a:off x="5090008" y="21945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8" y="23317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96564" y="333756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596564" y="4206240"/>
            <a:ext cx="21792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continua, alertas, detección anticipada de cambios materiales.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596564" y="5532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96564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87288" y="1920240"/>
            <a:ext cx="2636444" cy="41148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370168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400" dirty="0"/>
          </a:p>
        </p:txBody>
      </p:sp>
      <p:sp>
        <p:nvSpPr>
          <p:cNvPr id="25" name="Shape 21"/>
          <p:cNvSpPr/>
          <p:nvPr/>
        </p:nvSpPr>
        <p:spPr>
          <a:xfrm>
            <a:off x="7909331" y="21945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1" y="23317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15888" y="333756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Asset Graph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415888" y="4206240"/>
            <a:ext cx="21792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activos en grafo: vecindades, cúmulos, señales emergentes.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15888" y="5532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1588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3–4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006611" y="1920240"/>
            <a:ext cx="2636444" cy="41148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9189491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400" dirty="0"/>
          </a:p>
        </p:txBody>
      </p:sp>
      <p:sp>
        <p:nvSpPr>
          <p:cNvPr id="33" name="Shape 28"/>
          <p:cNvSpPr/>
          <p:nvPr/>
        </p:nvSpPr>
        <p:spPr>
          <a:xfrm>
            <a:off x="10728655" y="21945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5815" y="233172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235211" y="333756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Portabilidad (DVT)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235211" y="4206240"/>
            <a:ext cx="21792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independiente de operador. El dictamen viaja con el activo.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9235211" y="5532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235211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4864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es la primera capa de siete. No el producto final.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III  ·  LA EPIFANÍA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8 — LAI como oracle inmobiliario.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260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091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instrumentos que hoy no existen en LATAM porque no hay infraestructura de verdad continua.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2103120"/>
            <a:ext cx="3695548" cy="1600200"/>
          </a:xfrm>
          <a:prstGeom prst="rect">
            <a:avLst/>
          </a:prstGeom>
          <a:solidFill>
            <a:srgbClr val="0B1F33"/>
          </a:solidFill>
          <a:ln w="9525">
            <a:solidFill>
              <a:srgbClr val="E0A45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231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395728"/>
            <a:ext cx="2598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bonds paramétricos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97680" y="2971800"/>
            <a:ext cx="3146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Sub-soberanos, detonados por Stream Events firmados.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47508" y="2103120"/>
            <a:ext cx="3695548" cy="1600200"/>
          </a:xfrm>
          <a:prstGeom prst="rect">
            <a:avLst/>
          </a:prstGeom>
          <a:solidFill>
            <a:srgbClr val="0B1F33"/>
          </a:solidFill>
          <a:ln w="9525">
            <a:solidFill>
              <a:srgbClr val="E0A45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28" y="24231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1908" y="2395728"/>
            <a:ext cx="2598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con calidad atestiguada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1828" y="2971800"/>
            <a:ext cx="3146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hipotecaria con DVP firmado por activo.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023360" y="3931920"/>
            <a:ext cx="3695548" cy="1600200"/>
          </a:xfrm>
          <a:prstGeom prst="rect">
            <a:avLst/>
          </a:prstGeom>
          <a:solidFill>
            <a:srgbClr val="0B1F33"/>
          </a:solidFill>
          <a:ln w="9525">
            <a:solidFill>
              <a:srgbClr val="E0A45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2519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4224528"/>
            <a:ext cx="2598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FICs con NAV continuo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297680" y="4800600"/>
            <a:ext cx="3146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en frecuencia que el regulador permita.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947508" y="3931920"/>
            <a:ext cx="3695548" cy="1600200"/>
          </a:xfrm>
          <a:prstGeom prst="rect">
            <a:avLst/>
          </a:prstGeom>
          <a:solidFill>
            <a:srgbClr val="0B1F33"/>
          </a:solidFill>
          <a:ln w="9525">
            <a:solidFill>
              <a:srgbClr val="E0A45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828" y="425196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61908" y="4224528"/>
            <a:ext cx="2598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Paramétricos climáticos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221828" y="4800600"/>
            <a:ext cx="3146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inundación pluvial por polígono POT.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5943600"/>
            <a:ext cx="11094415" cy="59436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5943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 ·  Verisk USD 37 B   ·   MSCI USD 45 B   ·   Bloomberg USD 70 B+   ·   ICE Data Services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III  ·  LA DISCIPLINA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línea que NO cruzamos.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00" cy="5029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6517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 datos atestiguados sobre activos.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3832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infraestructura de verificación.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Árbitro técnico de eventos disputados.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920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846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abierto, pluralidad de operadores.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63640" y="1920240"/>
            <a:ext cx="548640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263640" y="1920240"/>
            <a:ext cx="5486400" cy="50292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26364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69748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5160" y="26517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 de instrumentos financieros.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29000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95160" y="33832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 o bróker de mercado.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160520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951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 de activos o de fondos.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892040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4846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no autorizado por SFC.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línea entre infraestructura de datos y operador de mercado es delgada — y la SFC la patrulla. La disciplina ES el activo.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III  ·  PEDAGOGÍA INTERNA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le cuenta esto a un VC.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39333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33829" y="2651760"/>
            <a:ext cx="1005840" cy="10058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09" y="283464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8862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Visión amplia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840" y="448056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8 existe. La oportunidad está mapeada. El roadmap es claro.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99178" y="2103120"/>
            <a:ext cx="339333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2928" y="2651760"/>
            <a:ext cx="1005840" cy="10058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28346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73498" y="38862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Ejecución disciplinada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64938" y="448056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NO se toca. El addendum es expansion vector, no v1.0 inflada.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58277" y="2103120"/>
            <a:ext cx="339333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52026" y="2651760"/>
            <a:ext cx="1005840" cy="10058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906" y="283464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32597" y="38862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honesto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524037" y="448056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condiciones de activación, hitos M0–M60, riesgos R1–R5 nombrados.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Pedagogía interna: así pensamos. Por eso lo vendemos así.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IV  ·  EL PRODUCTO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Etapa 1, 90 días.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567864" cy="1920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57400"/>
            <a:ext cx="2202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del MVP, fin a fin.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0824" y="1920240"/>
            <a:ext cx="2567864" cy="1920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3704" y="2057400"/>
            <a:ext cx="2202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573704" y="306324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ancla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73704" y="338328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Tier-1 sobre libro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1920240"/>
            <a:ext cx="2567864" cy="1920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5888" y="2057400"/>
            <a:ext cx="2202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415888" y="306324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dictámenes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5888" y="338328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firmados (50–100 según ritmo).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5191" y="1920240"/>
            <a:ext cx="2567864" cy="1920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58071" y="2057400"/>
            <a:ext cx="2202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9258071" y="306324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58071" y="338328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retainer Brigard Urrutia.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94415" cy="64008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23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 MVP:  USD 80 – 150 K   ·   piloto pago por el cliente, no gratuito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410048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498348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¿Hay comprador?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4406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Suscripción o VP de Riesgo dispuesto a firmar piloto pago de 90 días.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3008" y="4800600"/>
            <a:ext cx="5410048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7328" y="5029200"/>
            <a:ext cx="685800" cy="685800"/>
          </a:xfrm>
          <a:prstGeom prst="ellipse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7328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30288" y="498348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¿Hay valor diferencial?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30288" y="54406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25 % de hallazgos materiales no detectados por el proceso actual del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IV  ·  EL BUCLE INTERNO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Sinergia consume sus propios registros.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90008" y="3017520"/>
            <a:ext cx="2011680" cy="201168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90008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90008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firmados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011680"/>
            <a:ext cx="260604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ARHIA-LP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4300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Provenance se entrena con cadena de custodia real.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0" y="201168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0" y="2011680"/>
            <a:ext cx="260604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2860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6404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SimLAB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91540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con cohortes inmobiliarios vivos.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4400" y="457200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572000"/>
            <a:ext cx="260604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846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846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GIP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143000" y="5349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para grants de hábitat y vivienda.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686800" y="457200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33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0" y="4572000"/>
            <a:ext cx="260604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8463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64040" y="4846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ARHIAX-CM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915400" y="5349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multipropósito con feed continuo de eventos materiales.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606040"/>
            <a:ext cx="502920" cy="50292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001000" y="2606040"/>
            <a:ext cx="502920" cy="502920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754880"/>
            <a:ext cx="502920" cy="502920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001000" y="4754880"/>
            <a:ext cx="502920" cy="5029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folio firmado entrena al ecosistema.  El grafo es activo Sinergia, no solo entregable de cliente.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IV  ·  FRENTES INSTITUCIONALES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alianzas, en paralelo, con roles distintos.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LIDERA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6404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9441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7004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Lonja BAQ — Franco Martínez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514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Co-arquitectura institucional local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35240" y="2514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464040" y="265176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64040" y="2651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listo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11094415" cy="960120"/>
          </a:xfrm>
          <a:prstGeom prst="rect">
            <a:avLst/>
          </a:prstGeom>
          <a:solidFill>
            <a:srgbClr val="F5F7FA"/>
          </a:solidFill>
          <a:ln w="5080">
            <a:solidFill>
              <a:srgbClr val="E1E7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63016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258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Colegio Nacional Curadores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97764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gremial al Decreto 1166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635240" y="3474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+ legal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64040" y="361188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64040" y="36118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+ LAI-TS listos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48640" y="4297680"/>
            <a:ext cx="1109441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1E7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90288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Ministerio de Vivienda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3977640" y="4434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Reglamentación pendiente Decreto 1166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635240" y="4434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Colegio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464040" y="457200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464040" y="4572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~5 mayo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48640" y="5257800"/>
            <a:ext cx="11094415" cy="960120"/>
          </a:xfrm>
          <a:prstGeom prst="rect">
            <a:avLst/>
          </a:prstGeom>
          <a:solidFill>
            <a:srgbClr val="F5F7FA"/>
          </a:solidFill>
          <a:ln w="5080">
            <a:solidFill>
              <a:srgbClr val="E1E7EE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0080" y="5440680"/>
            <a:ext cx="548640" cy="54864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550408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32588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Cajas de Compensación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3977640" y="5394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LAI-TS para subsidio VIS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7635240" y="5394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abrir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9464040" y="55321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464040" y="5532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B del MVP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alianzas avanzan simultáneamente. Ninguna espera a otra.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IV  ·  DECISIÓN ESTRATÉGICA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A vs Ruta B — la primera define 24 meses.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RE  ·  Alineamiento estratégico LAI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5394960" cy="8686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ancla privado + Lonja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Aseguradora o banco como ancla.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Posicionamiento: infraestructura B2B premium.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7764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dictamen a precio fijo + retainer.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484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 como aliado de credibilidad técnica local.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9204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corto a Bogotá / Medellín en Etapa 2.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4924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5303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 salida: MSCI / Verisk.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63640" y="1920240"/>
            <a:ext cx="53949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A458"/>
            </a:solidFill>
            <a:prstDash val="solid"/>
          </a:ln>
          <a:effectLst>
            <a:outerShdw sx="100000" sy="100000" kx="0" ky="0" algn="bl" rotWithShape="0" blurRad="177800" dist="38100" dir="5400000">
              <a:srgbClr val="0B1F33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263640" y="1920240"/>
            <a:ext cx="5394960" cy="86868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53796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B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537960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 + Colegio Nacional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2940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 como operador de LAI-TS para subsidio VIS.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52044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9516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Posicionamiento: infraestructura pública-privada.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977640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95160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por obra gestionada + contrato marco.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434840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9516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como aliado gremial frente al Decreto 1166.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892040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95160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nacional vía Cajas + entidades territoriales.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349240"/>
            <a:ext cx="256032" cy="25603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995160" y="5303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 salida: Verisk gov / IDB Lab.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solidFill>
            <a:srgbClr val="08323D"/>
          </a:solidFill>
          <a:ln w="12700">
            <a:solidFill>
              <a:srgbClr val="08323D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primera ruta que se abra define el posicionamiento de Sinergia durante 24 meses. No son la misma empresa.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V  ·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cada uno hace en los próximos 90 días.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Lonja + Colegio Nacional. Decisión Ruta A vs B antes del día 30.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2536" y="1874520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2536" y="1874520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1136" y="205740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Harold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1136" y="2514600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01136" y="2880360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MVP fin a fin. Firma Ed25519 + RFC 3161 + .well-known operativos día 1.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6432" y="1874520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6432" y="1874520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5032" y="205740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Fredy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5032" y="2514600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25032" y="2880360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marco con Lonja y Colegio. Borrador NDA Caja. Retainer Brigard activo.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20327" y="1874520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20327" y="1874520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8927" y="205740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Alisson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48927" y="2514600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Formulación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48927" y="2880360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 EPSG:9377 sobre folios piloto. Buffer 150 m operativo.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23944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23944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06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Marcelo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" y="4764024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Brand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129784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LAI v1.0 + endpoint .well-known público + página dictamen demo.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72536" y="4123944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2536" y="4123944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1136" y="4306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Andrés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601136" y="4764024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01136" y="5129784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score actuarial calibrado sobre 50 dictámenes piloto.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6432" y="4123944"/>
            <a:ext cx="2622728" cy="2048256"/>
          </a:xfrm>
          <a:prstGeom prst="rect">
            <a:avLst/>
          </a:prstGeom>
          <a:solidFill>
            <a:srgbClr val="0B1F33"/>
          </a:solidFill>
          <a:ln w="6350">
            <a:solidFill>
              <a:srgbClr val="E0A4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6432" y="4123944"/>
            <a:ext cx="2622728" cy="7315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5032" y="4306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25032" y="4764024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Logistics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25032" y="5129784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SNR + IGAC + POT. Ingestión y canonicalización RFC 8785.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20327" y="4123944"/>
            <a:ext cx="2622728" cy="204825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48927" y="4306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48927" y="4764024"/>
            <a:ext cx="216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transversal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48927" y="5129784"/>
            <a:ext cx="21655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la línea: somos infraestructura de datos, no operador financiero.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Consulting Group  ·  ARHIAX RE  ·  30 abril 2026  ·  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Sinergia Consulting Group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ARHIAX RE — Alineamiento estratégico LAI</dc:title>
  <dc:subject>PptxGenJS Presentation</dc:subject>
  <dc:creator>Sinergia Consulting Group</dc:creator>
  <cp:lastModifiedBy>Sinergia Consulting Group</cp:lastModifiedBy>
  <cp:revision>1</cp:revision>
  <dcterms:created xsi:type="dcterms:W3CDTF">2026-04-30T16:17:11Z</dcterms:created>
  <dcterms:modified xsi:type="dcterms:W3CDTF">2026-04-30T16:17:11Z</dcterms:modified>
</cp:coreProperties>
</file>